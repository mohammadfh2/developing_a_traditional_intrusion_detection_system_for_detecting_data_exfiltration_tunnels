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5EE3E8"/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0"/>
            <a:ext cx="3145536" cy="6858000"/>
          </a:xfrm>
          <a:prstGeom prst="rect">
            <a:avLst/>
          </a:prstGeom>
          <a:solidFill>
            <a:srgbClr val="142744"/>
          </a:solidFill>
          <a:ln w="12700">
            <a:solidFill>
              <a:srgbClr val="14274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58300" y="937260"/>
            <a:ext cx="64008" cy="64008"/>
          </a:xfrm>
          <a:prstGeom prst="ellipse">
            <a:avLst/>
          </a:prstGeom>
          <a:solidFill>
            <a:srgbClr val="5EE3E8">
              <a:alpha val="96000"/>
            </a:srgbClr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45168" y="969264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90304" y="1024128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58300" y="1687068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45168" y="1719072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90304" y="1773936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58300" y="2436876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45168" y="2468880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90304" y="2523744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58300" y="3186684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45168" y="3218688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90304" y="3273552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58300" y="3936492"/>
            <a:ext cx="64008" cy="64008"/>
          </a:xfrm>
          <a:prstGeom prst="ellipse">
            <a:avLst/>
          </a:prstGeom>
          <a:solidFill>
            <a:srgbClr val="5EE3E8">
              <a:alpha val="96000"/>
            </a:srgbClr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45168" y="3968496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90304" y="4023360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58300" y="4686300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45168" y="4718304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7212" y="937260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0" y="969264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29216" y="1024128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7212" y="1687068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0" y="1719072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29216" y="1773936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7212" y="2436876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0" y="2468880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29216" y="2523744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97212" y="3186684"/>
            <a:ext cx="64008" cy="64008"/>
          </a:xfrm>
          <a:prstGeom prst="ellipse">
            <a:avLst/>
          </a:prstGeom>
          <a:solidFill>
            <a:srgbClr val="5EE3E8">
              <a:alpha val="96000"/>
            </a:srgbClr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84080" y="3218688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29216" y="3273552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97212" y="3936492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3968496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29216" y="4023360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97212" y="4686300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84080" y="4718304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36124" y="937260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22992" y="969264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68128" y="1024128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6124" y="1687068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22992" y="1719072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68128" y="1773936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36124" y="2436876"/>
            <a:ext cx="64008" cy="64008"/>
          </a:xfrm>
          <a:prstGeom prst="ellipse">
            <a:avLst/>
          </a:prstGeom>
          <a:solidFill>
            <a:srgbClr val="5EE3E8">
              <a:alpha val="96000"/>
            </a:srgbClr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22992" y="2468880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68128" y="2523744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36124" y="3186684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22992" y="3218688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68128" y="3273552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136124" y="3936492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222992" y="3968496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68128" y="4023360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136124" y="4686300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222992" y="4718304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75036" y="937260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661904" y="969264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607040" y="1024128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575036" y="1687068"/>
            <a:ext cx="64008" cy="64008"/>
          </a:xfrm>
          <a:prstGeom prst="ellipse">
            <a:avLst/>
          </a:prstGeom>
          <a:solidFill>
            <a:srgbClr val="5EE3E8">
              <a:alpha val="96000"/>
            </a:srgbClr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661904" y="1719072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607040" y="1773936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575036" y="2436876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661904" y="2468880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607040" y="2523744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575036" y="3186684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61904" y="3218688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607040" y="3273552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575036" y="3936492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661904" y="3968496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607040" y="4023360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575036" y="4686300"/>
            <a:ext cx="64008" cy="64008"/>
          </a:xfrm>
          <a:prstGeom prst="ellipse">
            <a:avLst/>
          </a:prstGeom>
          <a:solidFill>
            <a:srgbClr val="5EE3E8">
              <a:alpha val="96000"/>
            </a:srgbClr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661904" y="4718304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013948" y="937260"/>
            <a:ext cx="64008" cy="64008"/>
          </a:xfrm>
          <a:prstGeom prst="ellipse">
            <a:avLst/>
          </a:prstGeom>
          <a:solidFill>
            <a:srgbClr val="5EE3E8">
              <a:alpha val="96000"/>
            </a:srgbClr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100816" y="969264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045952" y="1024128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013948" y="1687068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100816" y="1719072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045952" y="1773936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013948" y="2436876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100816" y="2468880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045952" y="2523744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013948" y="3186684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100816" y="3218688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045952" y="3273552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013948" y="3936492"/>
            <a:ext cx="64008" cy="64008"/>
          </a:xfrm>
          <a:prstGeom prst="ellipse">
            <a:avLst/>
          </a:prstGeom>
          <a:solidFill>
            <a:srgbClr val="5EE3E8">
              <a:alpha val="96000"/>
            </a:srgbClr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100816" y="3968496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045952" y="4023360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013948" y="4686300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100816" y="4718304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52860" y="937260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539728" y="969264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484864" y="1024128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452860" y="1687068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539728" y="1719072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484864" y="1773936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452860" y="2436876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539728" y="2468880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484864" y="2523744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1452860" y="3186684"/>
            <a:ext cx="64008" cy="64008"/>
          </a:xfrm>
          <a:prstGeom prst="ellipse">
            <a:avLst/>
          </a:prstGeom>
          <a:solidFill>
            <a:srgbClr val="5EE3E8">
              <a:alpha val="96000"/>
            </a:srgbClr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1539728" y="3218688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484864" y="3273552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452860" y="3936492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539728" y="3968496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484864" y="4023360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452860" y="4686300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539728" y="4718304"/>
            <a:ext cx="301752" cy="0"/>
          </a:xfrm>
          <a:prstGeom prst="line">
            <a:avLst/>
          </a:prstGeom>
          <a:noFill/>
          <a:ln w="7620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891772" y="937260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923776" y="1024128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891772" y="1687068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923776" y="1773936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891772" y="2436876"/>
            <a:ext cx="64008" cy="64008"/>
          </a:xfrm>
          <a:prstGeom prst="ellipse">
            <a:avLst/>
          </a:prstGeom>
          <a:solidFill>
            <a:srgbClr val="5EE3E8">
              <a:alpha val="96000"/>
            </a:srgbClr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1923776" y="2523744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891772" y="3186684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1923776" y="3273552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1891772" y="3936492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1923776" y="4023360"/>
            <a:ext cx="0" cy="566928"/>
          </a:xfrm>
          <a:prstGeom prst="line">
            <a:avLst/>
          </a:prstGeom>
          <a:noFill/>
          <a:ln w="8255">
            <a:solidFill>
              <a:srgbClr val="345873">
                <a:alpha val="45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1891772" y="4686300"/>
            <a:ext cx="64008" cy="64008"/>
          </a:xfrm>
          <a:prstGeom prst="ellipse">
            <a:avLst/>
          </a:prstGeom>
          <a:solidFill>
            <a:srgbClr val="41607B">
              <a:alpha val="55000"/>
            </a:srgbClr>
          </a:solidFill>
          <a:ln w="12700">
            <a:solidFill>
              <a:srgbClr val="41607B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464040" y="4206240"/>
            <a:ext cx="2066544" cy="1188720"/>
          </a:xfrm>
          <a:prstGeom prst="roundRect">
            <a:avLst>
              <a:gd name="adj" fmla="val 15385"/>
            </a:avLst>
          </a:prstGeom>
          <a:solidFill>
            <a:srgbClr val="0D213D"/>
          </a:solidFill>
          <a:ln w="22860">
            <a:solidFill>
              <a:srgbClr val="5EE3E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582912" y="456285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5EE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  •   ICMP</a:t>
            </a:r>
            <a:endParaRPr lang="en-US" sz="1650" dirty="0"/>
          </a:p>
        </p:txBody>
      </p:sp>
      <p:sp>
        <p:nvSpPr>
          <p:cNvPr id="119" name="Text 117"/>
          <p:cNvSpPr/>
          <p:nvPr/>
        </p:nvSpPr>
        <p:spPr>
          <a:xfrm>
            <a:off x="658368" y="60350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EE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SEMESTER PROJECT  /  NETWORK SECURITY</a:t>
            </a:r>
            <a:endParaRPr lang="en-US" sz="1150" dirty="0"/>
          </a:p>
        </p:txBody>
      </p:sp>
      <p:sp>
        <p:nvSpPr>
          <p:cNvPr id="120" name="Text 118"/>
          <p:cNvSpPr/>
          <p:nvPr/>
        </p:nvSpPr>
        <p:spPr>
          <a:xfrm>
            <a:off x="621792" y="1207008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30" b="1" dirty="0">
                <a:solidFill>
                  <a:srgbClr val="F6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Developing a Traditional IDS</a:t>
            </a:r>
            <a:endParaRPr lang="en-US" sz="3730" dirty="0"/>
          </a:p>
          <a:p>
            <a:pPr indent="0" marL="0">
              <a:buNone/>
            </a:pPr>
            <a:r>
              <a:rPr lang="en-US" sz="3730" b="1" dirty="0">
                <a:solidFill>
                  <a:srgbClr val="F6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Detecting Data</a:t>
            </a:r>
            <a:endParaRPr lang="en-US" sz="3730" dirty="0"/>
          </a:p>
          <a:p>
            <a:pPr indent="0" marL="0">
              <a:buNone/>
            </a:pPr>
            <a:r>
              <a:rPr lang="en-US" sz="3730" b="1" dirty="0">
                <a:solidFill>
                  <a:srgbClr val="F6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Exfiltration Tunnels</a:t>
            </a:r>
            <a:endParaRPr lang="en-US" sz="3730" dirty="0"/>
          </a:p>
        </p:txBody>
      </p:sp>
      <p:sp>
        <p:nvSpPr>
          <p:cNvPr id="121" name="Shape 119"/>
          <p:cNvSpPr/>
          <p:nvPr/>
        </p:nvSpPr>
        <p:spPr>
          <a:xfrm>
            <a:off x="658368" y="3611880"/>
            <a:ext cx="978408" cy="50292"/>
          </a:xfrm>
          <a:prstGeom prst="rect">
            <a:avLst/>
          </a:prstGeom>
          <a:solidFill>
            <a:srgbClr val="5EE3E8"/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58368" y="39867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spc="170" kern="0" dirty="0">
                <a:solidFill>
                  <a:srgbClr val="5EE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</a:t>
            </a:r>
            <a:endParaRPr lang="en-US" sz="1080" dirty="0"/>
          </a:p>
        </p:txBody>
      </p:sp>
      <p:sp>
        <p:nvSpPr>
          <p:cNvPr id="123" name="Text 121"/>
          <p:cNvSpPr/>
          <p:nvPr/>
        </p:nvSpPr>
        <p:spPr>
          <a:xfrm>
            <a:off x="658368" y="4315968"/>
            <a:ext cx="7589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Mohammad Al-Fahham  &amp;  Sami Al-Fahel</a:t>
            </a:r>
            <a:endParaRPr lang="en-US" sz="1920" dirty="0"/>
          </a:p>
        </p:txBody>
      </p:sp>
      <p:sp>
        <p:nvSpPr>
          <p:cNvPr id="124" name="Text 122"/>
          <p:cNvSpPr/>
          <p:nvPr/>
        </p:nvSpPr>
        <p:spPr>
          <a:xfrm>
            <a:off x="658368" y="51297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spc="170" kern="0" dirty="0">
                <a:solidFill>
                  <a:srgbClr val="5EE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SUPERVISORS</a:t>
            </a:r>
            <a:endParaRPr lang="en-US" sz="1080" dirty="0"/>
          </a:p>
        </p:txBody>
      </p:sp>
      <p:sp>
        <p:nvSpPr>
          <p:cNvPr id="125" name="Text 123"/>
          <p:cNvSpPr/>
          <p:nvPr/>
        </p:nvSpPr>
        <p:spPr>
          <a:xfrm>
            <a:off x="658368" y="546811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Wassim Junidi  &amp;  Ahmad Shekha</a:t>
            </a:r>
            <a:endParaRPr lang="en-US" sz="1850" dirty="0"/>
          </a:p>
        </p:txBody>
      </p:sp>
      <p:sp>
        <p:nvSpPr>
          <p:cNvPr id="126" name="Text 124"/>
          <p:cNvSpPr/>
          <p:nvPr/>
        </p:nvSpPr>
        <p:spPr>
          <a:xfrm>
            <a:off x="10671048" y="65745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1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06</a:t>
            </a:r>
            <a:endParaRPr lang="en-US" sz="9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5EE3E8"/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spc="230" kern="0" dirty="0">
                <a:solidFill>
                  <a:srgbClr val="5EE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OVERVIEW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20" b="1" dirty="0">
                <a:solidFill>
                  <a:srgbClr val="F6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idea, objectives &amp; proposed solution</a:t>
            </a:r>
            <a:endParaRPr lang="en-US" sz="2620" dirty="0"/>
          </a:p>
        </p:txBody>
      </p:sp>
      <p:sp>
        <p:nvSpPr>
          <p:cNvPr id="5" name="Text 3"/>
          <p:cNvSpPr/>
          <p:nvPr/>
        </p:nvSpPr>
        <p:spPr>
          <a:xfrm>
            <a:off x="603504" y="11978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covert data transfer hidden inside trusted network protocols.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11430">
            <a:solidFill>
              <a:srgbClr val="2E43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92824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DETECTING DATA EXFILTRATION TUNNELS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698480" y="6583680"/>
            <a:ext cx="8778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691640"/>
            <a:ext cx="6812280" cy="1307592"/>
          </a:xfrm>
          <a:prstGeom prst="roundRect">
            <a:avLst>
              <a:gd name="adj" fmla="val 11189"/>
            </a:avLst>
          </a:prstGeom>
          <a:solidFill>
            <a:srgbClr val="142540"/>
          </a:solidFill>
          <a:ln w="12700">
            <a:solidFill>
              <a:srgbClr val="2E43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1911096"/>
            <a:ext cx="1472184" cy="310896"/>
          </a:xfrm>
          <a:prstGeom prst="roundRect">
            <a:avLst>
              <a:gd name="adj" fmla="val 47059"/>
            </a:avLst>
          </a:prstGeom>
          <a:solidFill>
            <a:srgbClr val="192E4B"/>
          </a:solidFill>
          <a:ln w="12700">
            <a:solidFill>
              <a:srgbClr val="192E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938528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5" kern="0" dirty="0">
                <a:solidFill>
                  <a:srgbClr val="5EE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2104" y="2350008"/>
            <a:ext cx="6263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and ICMP traffic can carry hidden exfiltration tunnels, while default IDS rules may overlook them.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630936" y="32644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5" kern="0" dirty="0">
                <a:solidFill>
                  <a:srgbClr val="5EE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OBJECTIVES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" y="3648456"/>
            <a:ext cx="6739128" cy="621792"/>
          </a:xfrm>
          <a:prstGeom prst="roundRect">
            <a:avLst>
              <a:gd name="adj" fmla="val 23529"/>
            </a:avLst>
          </a:prstGeom>
          <a:solidFill>
            <a:srgbClr val="182C48"/>
          </a:solidFill>
          <a:ln w="12700">
            <a:solidFill>
              <a:srgbClr val="2E43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73989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Detect evasive tunnels</a:t>
            </a:r>
            <a:endParaRPr lang="en-US" sz="1310" dirty="0"/>
          </a:p>
        </p:txBody>
      </p:sp>
      <p:sp>
        <p:nvSpPr>
          <p:cNvPr id="16" name="Text 14"/>
          <p:cNvSpPr/>
          <p:nvPr/>
        </p:nvSpPr>
        <p:spPr>
          <a:xfrm>
            <a:off x="850392" y="3986784"/>
            <a:ext cx="6108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visibility into ICMP and DNS exfiltration patterns.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30936" y="4389120"/>
            <a:ext cx="6739128" cy="621792"/>
          </a:xfrm>
          <a:prstGeom prst="roundRect">
            <a:avLst>
              <a:gd name="adj" fmla="val 23529"/>
            </a:avLst>
          </a:prstGeom>
          <a:solidFill>
            <a:srgbClr val="142540"/>
          </a:solidFill>
          <a:ln w="12700">
            <a:solidFill>
              <a:srgbClr val="2E43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480560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Measure effectiveness</a:t>
            </a:r>
            <a:endParaRPr lang="en-US" sz="1310" dirty="0"/>
          </a:p>
        </p:txBody>
      </p:sp>
      <p:sp>
        <p:nvSpPr>
          <p:cNvPr id="19" name="Text 17"/>
          <p:cNvSpPr/>
          <p:nvPr/>
        </p:nvSpPr>
        <p:spPr>
          <a:xfrm>
            <a:off x="850392" y="4727448"/>
            <a:ext cx="6108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recall and F1 while controlling false alarms.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30936" y="5129784"/>
            <a:ext cx="6739128" cy="621792"/>
          </a:xfrm>
          <a:prstGeom prst="roundRect">
            <a:avLst>
              <a:gd name="adj" fmla="val 23529"/>
            </a:avLst>
          </a:prstGeom>
          <a:solidFill>
            <a:srgbClr val="142540"/>
          </a:solidFill>
          <a:ln w="12700">
            <a:solidFill>
              <a:srgbClr val="2E43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22122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Operationalize alerts</a:t>
            </a:r>
            <a:endParaRPr lang="en-US" sz="1310" dirty="0"/>
          </a:p>
        </p:txBody>
      </p:sp>
      <p:sp>
        <p:nvSpPr>
          <p:cNvPr id="22" name="Text 20"/>
          <p:cNvSpPr/>
          <p:nvPr/>
        </p:nvSpPr>
        <p:spPr>
          <a:xfrm>
            <a:off x="850392" y="5468112"/>
            <a:ext cx="6108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in a live lab and send detections to a SIEM.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680960" y="1691640"/>
            <a:ext cx="3913632" cy="4151376"/>
          </a:xfrm>
          <a:prstGeom prst="roundRect">
            <a:avLst>
              <a:gd name="adj" fmla="val 3738"/>
            </a:avLst>
          </a:prstGeom>
          <a:solidFill>
            <a:srgbClr val="10253A"/>
          </a:solidFill>
          <a:ln w="12700">
            <a:solidFill>
              <a:srgbClr val="3355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2712" y="1947672"/>
            <a:ext cx="3236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19288" y="2368296"/>
            <a:ext cx="3218688" cy="530352"/>
          </a:xfrm>
          <a:prstGeom prst="roundRect">
            <a:avLst>
              <a:gd name="adj" fmla="val 27586"/>
            </a:avLst>
          </a:prstGeom>
          <a:solidFill>
            <a:srgbClr val="1B334E"/>
          </a:solidFill>
          <a:ln w="12700">
            <a:solidFill>
              <a:srgbClr val="2F53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0456" y="2441448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IDS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220456" y="2660904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DNS / ICMP indicators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10344" y="2916936"/>
            <a:ext cx="0" cy="182880"/>
          </a:xfrm>
          <a:prstGeom prst="line">
            <a:avLst/>
          </a:prstGeom>
          <a:noFill/>
          <a:ln w="17145">
            <a:solidFill>
              <a:srgbClr val="5EE3E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19288" y="3127248"/>
            <a:ext cx="3218688" cy="530352"/>
          </a:xfrm>
          <a:prstGeom prst="roundRect">
            <a:avLst>
              <a:gd name="adj" fmla="val 27586"/>
            </a:avLst>
          </a:prstGeom>
          <a:solidFill>
            <a:srgbClr val="1E3B50"/>
          </a:solidFill>
          <a:ln w="12700">
            <a:solidFill>
              <a:srgbClr val="5EE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0456" y="3200400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220456" y="3419856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labeled traffic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610344" y="3675888"/>
            <a:ext cx="0" cy="182880"/>
          </a:xfrm>
          <a:prstGeom prst="line">
            <a:avLst/>
          </a:prstGeom>
          <a:noFill/>
          <a:ln w="17145">
            <a:solidFill>
              <a:srgbClr val="5EE3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19288" y="3886200"/>
            <a:ext cx="3218688" cy="530352"/>
          </a:xfrm>
          <a:prstGeom prst="roundRect">
            <a:avLst>
              <a:gd name="adj" fmla="val 27586"/>
            </a:avLst>
          </a:prstGeom>
          <a:solidFill>
            <a:srgbClr val="1B334E"/>
          </a:solidFill>
          <a:ln w="12700">
            <a:solidFill>
              <a:srgbClr val="2F53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0456" y="3959352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&amp; AI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8220456" y="4178808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unknown or evolving threats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10344" y="4434840"/>
            <a:ext cx="0" cy="182880"/>
          </a:xfrm>
          <a:prstGeom prst="line">
            <a:avLst/>
          </a:prstGeom>
          <a:noFill/>
          <a:ln w="17145">
            <a:solidFill>
              <a:srgbClr val="5EE3E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019288" y="4645152"/>
            <a:ext cx="3218688" cy="530352"/>
          </a:xfrm>
          <a:prstGeom prst="roundRect">
            <a:avLst>
              <a:gd name="adj" fmla="val 27586"/>
            </a:avLst>
          </a:prstGeom>
          <a:solidFill>
            <a:srgbClr val="1B334E"/>
          </a:solidFill>
          <a:ln w="12700">
            <a:solidFill>
              <a:srgbClr val="2F53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0456" y="4718304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SIEM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8220456" y="493776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 alerts and investigation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982712" y="598932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Focus: detection and alerting, not automatic blocking.</a:t>
            </a:r>
            <a:endParaRPr lang="en-US" sz="10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5EE3E8"/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spc="230" kern="0" dirty="0">
                <a:solidFill>
                  <a:srgbClr val="5EE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LITERATURE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20" b="1" dirty="0">
                <a:solidFill>
                  <a:srgbClr val="F6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references &amp; what we learned</a:t>
            </a:r>
            <a:endParaRPr lang="en-US" sz="2620" dirty="0"/>
          </a:p>
        </p:txBody>
      </p:sp>
      <p:sp>
        <p:nvSpPr>
          <p:cNvPr id="5" name="Text 3"/>
          <p:cNvSpPr/>
          <p:nvPr/>
        </p:nvSpPr>
        <p:spPr>
          <a:xfrm>
            <a:off x="603504" y="11978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sources connect IDS blind spots, feature design, adversarial risks and ML evaluation.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11430">
            <a:solidFill>
              <a:srgbClr val="2E435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92824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DETECTING DATA EXFILTRATION TUNNELS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698480" y="6583680"/>
            <a:ext cx="8778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" y="1673352"/>
            <a:ext cx="10963656" cy="1005840"/>
          </a:xfrm>
          <a:prstGeom prst="roundRect">
            <a:avLst>
              <a:gd name="adj" fmla="val 14545"/>
            </a:avLst>
          </a:prstGeom>
          <a:solidFill>
            <a:srgbClr val="142540"/>
          </a:solidFill>
          <a:ln w="12700">
            <a:solidFill>
              <a:srgbClr val="2E435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32104" y="1819656"/>
            <a:ext cx="566928" cy="548640"/>
          </a:xfrm>
          <a:prstGeom prst="roundRect">
            <a:avLst>
              <a:gd name="adj" fmla="val 26667"/>
            </a:avLst>
          </a:prstGeom>
          <a:solidFill>
            <a:srgbClr val="5EE3E8"/>
          </a:solidFill>
          <a:ln w="12700">
            <a:solidFill>
              <a:srgbClr val="5EE3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192024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0" b="1" dirty="0">
                <a:solidFill>
                  <a:srgbClr val="0A14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10" dirty="0"/>
          </a:p>
        </p:txBody>
      </p:sp>
      <p:sp>
        <p:nvSpPr>
          <p:cNvPr id="12" name="Text 10"/>
          <p:cNvSpPr/>
          <p:nvPr/>
        </p:nvSpPr>
        <p:spPr>
          <a:xfrm>
            <a:off x="1600200" y="180136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Snort vs. Suricata (2026)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1600200" y="2084832"/>
            <a:ext cx="4700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Comparative Evaluation of Snort and Suricata for Detecting Data Exfiltration Tunnels in Cloud Environments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510528" y="1847088"/>
            <a:ext cx="0" cy="649224"/>
          </a:xfrm>
          <a:prstGeom prst="line">
            <a:avLst/>
          </a:prstGeom>
          <a:noFill/>
          <a:ln w="15240">
            <a:solidFill>
              <a:srgbClr val="2E435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748272" y="1828800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spc="130" kern="0" dirty="0">
                <a:solidFill>
                  <a:srgbClr val="5EE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HELPED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6748272" y="20665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IDS configurations missed ICMP tunnels, motivating specialized detection rules.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21792" y="2825496"/>
            <a:ext cx="10963656" cy="1005840"/>
          </a:xfrm>
          <a:prstGeom prst="roundRect">
            <a:avLst>
              <a:gd name="adj" fmla="val 14545"/>
            </a:avLst>
          </a:prstGeom>
          <a:solidFill>
            <a:srgbClr val="122039"/>
          </a:solidFill>
          <a:ln w="12700">
            <a:solidFill>
              <a:srgbClr val="2E435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32104" y="2971800"/>
            <a:ext cx="566928" cy="548640"/>
          </a:xfrm>
          <a:prstGeom prst="roundRect">
            <a:avLst>
              <a:gd name="adj" fmla="val 26667"/>
            </a:avLst>
          </a:prstGeom>
          <a:solidFill>
            <a:srgbClr val="C7F278"/>
          </a:solidFill>
          <a:ln w="12700">
            <a:solidFill>
              <a:srgbClr val="C7F27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2104" y="3072384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0" b="1" dirty="0">
                <a:solidFill>
                  <a:srgbClr val="0A14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610" dirty="0"/>
          </a:p>
        </p:txBody>
      </p:sp>
      <p:sp>
        <p:nvSpPr>
          <p:cNvPr id="20" name="Text 18"/>
          <p:cNvSpPr/>
          <p:nvPr/>
        </p:nvSpPr>
        <p:spPr>
          <a:xfrm>
            <a:off x="1600200" y="295351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Mahdavifar et al. (2021)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1600200" y="3236976"/>
            <a:ext cx="4700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Lightweight Hybrid Detection of Data Exfiltration Using DNS Based on Machine Learning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510528" y="2999232"/>
            <a:ext cx="0" cy="649224"/>
          </a:xfrm>
          <a:prstGeom prst="line">
            <a:avLst/>
          </a:prstGeom>
          <a:noFill/>
          <a:ln w="15240">
            <a:solidFill>
              <a:srgbClr val="2E435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748272" y="298094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spc="130" kern="0" dirty="0">
                <a:solidFill>
                  <a:srgbClr val="C7F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HELPED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6748272" y="32186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stateless/stateful DNS feature engineering and a hybrid, two-stage ML detection concept.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21792" y="3977640"/>
            <a:ext cx="10963656" cy="1005840"/>
          </a:xfrm>
          <a:prstGeom prst="roundRect">
            <a:avLst>
              <a:gd name="adj" fmla="val 14545"/>
            </a:avLst>
          </a:prstGeom>
          <a:solidFill>
            <a:srgbClr val="142540"/>
          </a:solidFill>
          <a:ln w="12700">
            <a:solidFill>
              <a:srgbClr val="2E435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32104" y="4123944"/>
            <a:ext cx="566928" cy="548640"/>
          </a:xfrm>
          <a:prstGeom prst="roundRect">
            <a:avLst>
              <a:gd name="adj" fmla="val 26667"/>
            </a:avLst>
          </a:prstGeom>
          <a:solidFill>
            <a:srgbClr val="FEC278"/>
          </a:solidFill>
          <a:ln w="12700">
            <a:solidFill>
              <a:srgbClr val="FEC27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32104" y="4224528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0" b="1" dirty="0">
                <a:solidFill>
                  <a:srgbClr val="0A14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610" dirty="0"/>
          </a:p>
        </p:txBody>
      </p:sp>
      <p:sp>
        <p:nvSpPr>
          <p:cNvPr id="28" name="Text 26"/>
          <p:cNvSpPr/>
          <p:nvPr/>
        </p:nvSpPr>
        <p:spPr>
          <a:xfrm>
            <a:off x="1600200" y="410565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SBSeg (2024)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1600200" y="4389120"/>
            <a:ext cx="4700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DoHDeception: Evading ML-Based Tunnel Detection Models with Real-World Adversarial Examples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510528" y="4151376"/>
            <a:ext cx="0" cy="649224"/>
          </a:xfrm>
          <a:prstGeom prst="line">
            <a:avLst/>
          </a:prstGeom>
          <a:noFill/>
          <a:ln w="15240">
            <a:solidFill>
              <a:srgbClr val="2E435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748272" y="413308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spc="130" kern="0" dirty="0">
                <a:solidFill>
                  <a:srgbClr val="FEC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HELPED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6748272" y="43708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Highlighted evasion and robustness concerns for ML-based tunnel detection, especially in encrypted DNS contexts.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621792" y="5129784"/>
            <a:ext cx="10963656" cy="1005840"/>
          </a:xfrm>
          <a:prstGeom prst="roundRect">
            <a:avLst>
              <a:gd name="adj" fmla="val 14545"/>
            </a:avLst>
          </a:prstGeom>
          <a:solidFill>
            <a:srgbClr val="122039"/>
          </a:solidFill>
          <a:ln w="12700">
            <a:solidFill>
              <a:srgbClr val="2E435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32104" y="5276088"/>
            <a:ext cx="566928" cy="548640"/>
          </a:xfrm>
          <a:prstGeom prst="roundRect">
            <a:avLst>
              <a:gd name="adj" fmla="val 26667"/>
            </a:avLst>
          </a:prstGeom>
          <a:solidFill>
            <a:srgbClr val="C5A6FE"/>
          </a:solidFill>
          <a:ln w="12700">
            <a:solidFill>
              <a:srgbClr val="C5A6F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32104" y="5376672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0" b="1" dirty="0">
                <a:solidFill>
                  <a:srgbClr val="0A14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610" dirty="0"/>
          </a:p>
        </p:txBody>
      </p:sp>
      <p:sp>
        <p:nvSpPr>
          <p:cNvPr id="36" name="Text 34"/>
          <p:cNvSpPr/>
          <p:nvPr/>
        </p:nvSpPr>
        <p:spPr>
          <a:xfrm>
            <a:off x="1600200" y="525780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Sebastian Raschka (2020)</a:t>
            </a:r>
            <a:endParaRPr lang="en-US" sz="1420" dirty="0"/>
          </a:p>
        </p:txBody>
      </p:sp>
      <p:sp>
        <p:nvSpPr>
          <p:cNvPr id="37" name="Text 35"/>
          <p:cNvSpPr/>
          <p:nvPr/>
        </p:nvSpPr>
        <p:spPr>
          <a:xfrm>
            <a:off x="1600200" y="5541264"/>
            <a:ext cx="4700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Evaluation, Model Selection, and Algorithm Selection in Machine Learning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6510528" y="5303520"/>
            <a:ext cx="0" cy="649224"/>
          </a:xfrm>
          <a:prstGeom prst="line">
            <a:avLst/>
          </a:prstGeom>
          <a:noFill/>
          <a:ln w="15240">
            <a:solidFill>
              <a:srgbClr val="2E435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748272" y="528523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spc="130" kern="0" dirty="0">
                <a:solidFill>
                  <a:srgbClr val="C5A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HELPED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6748272" y="552297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Informed data splitting, model comparison and the need to prevent leakage when selecting algorithms.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5EE3E8"/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100" b="1" spc="230" kern="0" dirty="0">
                <a:solidFill>
                  <a:srgbClr val="60E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EVALUATION DESIGN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1800" b="1">
                <a:solidFill>
                  <a:srgbClr val="F0F4FA"/>
                </a:solidFill>
                <a:latin typeface="Aptos"/>
              </a:rPr>
              <a:t>Selected datasets, candidate models &amp; evaluation criteria</a:t>
            </a:r>
          </a:p>
        </p:txBody>
      </p:sp>
      <p:sp>
        <p:nvSpPr>
          <p:cNvPr id="5" name="Text 3"/>
          <p:cNvSpPr/>
          <p:nvPr/>
        </p:nvSpPr>
        <p:spPr>
          <a:xfrm>
            <a:off x="603504" y="12778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1100" b="0">
                <a:solidFill>
                  <a:srgbClr val="AAB9CD"/>
                </a:solidFill>
                <a:latin typeface="Aptos"/>
              </a:rPr>
              <a:t>This slide defines the evaluation scope; model training and comparison are planned next.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11430">
            <a:solidFill>
              <a:srgbClr val="2E435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592824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00" spc="150" kern="0" dirty="0" b="1">
                <a:solidFill>
                  <a:srgbClr val="AAB9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DETECTING DATA EXFILTRATION TUNNELS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698480" y="6583680"/>
            <a:ext cx="8778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000" dirty="0" b="0">
                <a:solidFill>
                  <a:srgbClr val="AAB9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1664208"/>
            <a:ext cx="5577840" cy="1517904"/>
          </a:xfrm>
          <a:prstGeom prst="roundRect">
            <a:avLst>
              <a:gd name="adj" fmla="val 9639"/>
            </a:avLst>
          </a:prstGeom>
          <a:solidFill>
            <a:srgbClr val="142540"/>
          </a:solidFill>
          <a:ln w="12700">
            <a:solidFill>
              <a:srgbClr val="2E435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13816" y="1856232"/>
            <a:ext cx="1828800" cy="310896"/>
          </a:xfrm>
          <a:prstGeom prst="roundRect">
            <a:avLst>
              <a:gd name="adj" fmla="val 47059"/>
            </a:avLst>
          </a:prstGeom>
          <a:solidFill>
            <a:srgbClr val="192E4B"/>
          </a:solidFill>
          <a:ln w="12700">
            <a:solidFill>
              <a:srgbClr val="192E4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1883664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100" b="1" spc="65" kern="0" dirty="0">
                <a:solidFill>
                  <a:srgbClr val="C8E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EXFILTRATION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26771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CIC-Bell-DNS-EXF-2021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2642616"/>
            <a:ext cx="5193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950" dirty="0" b="0">
                <a:solidFill>
                  <a:srgbClr val="AAB9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Stateless and stateful DNS features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22960" y="2898648"/>
            <a:ext cx="5193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950" dirty="0" b="0">
                <a:solidFill>
                  <a:srgbClr val="C8E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Light-attack and heavy-attack scenarios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318504" y="1664208"/>
            <a:ext cx="5266944" cy="1517904"/>
          </a:xfrm>
          <a:prstGeom prst="roundRect">
            <a:avLst>
              <a:gd name="adj" fmla="val 9639"/>
            </a:avLst>
          </a:prstGeom>
          <a:solidFill>
            <a:srgbClr val="142540"/>
          </a:solidFill>
          <a:ln w="12700">
            <a:solidFill>
              <a:srgbClr val="2E435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519672" y="1856232"/>
            <a:ext cx="2084832" cy="310896"/>
          </a:xfrm>
          <a:prstGeom prst="roundRect">
            <a:avLst>
              <a:gd name="adj" fmla="val 47059"/>
            </a:avLst>
          </a:prstGeom>
          <a:solidFill>
            <a:srgbClr val="192E4B"/>
          </a:solidFill>
          <a:ln w="12700">
            <a:solidFill>
              <a:srgbClr val="192E4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20256" y="1883664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100" b="1" spc="65" kern="0" dirty="0">
                <a:solidFill>
                  <a:srgbClr val="C8E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ENCRYPTED DNS / DoH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28816" y="2267712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DoHBrw-2020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28816" y="2642616"/>
            <a:ext cx="4882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950" dirty="0" b="0">
                <a:solidFill>
                  <a:srgbClr val="AAB9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Encrypted DNS traffic dataset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528816" y="289864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950" dirty="0" b="0">
                <a:solidFill>
                  <a:srgbClr val="C8E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be assessed separately from the DNS scenarios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12648" y="3465576"/>
            <a:ext cx="6912864" cy="2148840"/>
          </a:xfrm>
          <a:prstGeom prst="roundRect">
            <a:avLst>
              <a:gd name="adj" fmla="val 6809"/>
            </a:avLst>
          </a:prstGeom>
          <a:solidFill>
            <a:srgbClr val="152840"/>
          </a:solidFill>
          <a:ln w="12700">
            <a:solidFill>
              <a:srgbClr val="2E435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3712464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1200" b="0">
                <a:solidFill>
                  <a:srgbClr val="F0F4FA"/>
                </a:solidFill>
                <a:latin typeface="Aptos"/>
              </a:rPr>
              <a:t>8 CANDIDATE CLASSIFIERS</a:t>
            </a:r>
          </a:p>
        </p:txBody>
      </p:sp>
      <p:sp>
        <p:nvSpPr>
          <p:cNvPr id="23" name="Shape 21"/>
          <p:cNvSpPr/>
          <p:nvPr/>
        </p:nvSpPr>
        <p:spPr>
          <a:xfrm>
            <a:off x="877824" y="4206240"/>
            <a:ext cx="1444752" cy="475488"/>
          </a:xfrm>
          <a:prstGeom prst="roundRect">
            <a:avLst>
              <a:gd name="adj" fmla="val 30769"/>
            </a:avLst>
          </a:prstGeom>
          <a:solidFill>
            <a:srgbClr val="1D3650"/>
          </a:solidFill>
          <a:ln w="12700">
            <a:solidFill>
              <a:srgbClr val="31516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50976" y="4261104"/>
            <a:ext cx="393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0E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1353312" y="4261104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50" dirty="0" b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78024" y="4206240"/>
            <a:ext cx="1444752" cy="475488"/>
          </a:xfrm>
          <a:prstGeom prst="roundRect">
            <a:avLst>
              <a:gd name="adj" fmla="val 30769"/>
            </a:avLst>
          </a:prstGeom>
          <a:solidFill>
            <a:srgbClr val="1D3650"/>
          </a:solidFill>
          <a:ln w="12700">
            <a:solidFill>
              <a:srgbClr val="31516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551176" y="4261104"/>
            <a:ext cx="393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0E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</a:t>
            </a:r>
            <a:endParaRPr lang="en-US" sz="1270" dirty="0"/>
          </a:p>
        </p:txBody>
      </p:sp>
      <p:sp>
        <p:nvSpPr>
          <p:cNvPr id="28" name="Text 26"/>
          <p:cNvSpPr/>
          <p:nvPr/>
        </p:nvSpPr>
        <p:spPr>
          <a:xfrm>
            <a:off x="2953512" y="4261104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50" dirty="0" b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78224" y="4206240"/>
            <a:ext cx="1444752" cy="475488"/>
          </a:xfrm>
          <a:prstGeom prst="roundRect">
            <a:avLst>
              <a:gd name="adj" fmla="val 30769"/>
            </a:avLst>
          </a:prstGeom>
          <a:solidFill>
            <a:srgbClr val="1D3650"/>
          </a:solidFill>
          <a:ln w="12700">
            <a:solidFill>
              <a:srgbClr val="31516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151376" y="4261104"/>
            <a:ext cx="393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0E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</a:t>
            </a:r>
            <a:endParaRPr lang="en-US" sz="1270" dirty="0"/>
          </a:p>
        </p:txBody>
      </p:sp>
      <p:sp>
        <p:nvSpPr>
          <p:cNvPr id="31" name="Text 29"/>
          <p:cNvSpPr/>
          <p:nvPr/>
        </p:nvSpPr>
        <p:spPr>
          <a:xfrm>
            <a:off x="4553712" y="4261104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50" dirty="0" b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K-Nearest Neighbors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78424" y="4206240"/>
            <a:ext cx="1444752" cy="475488"/>
          </a:xfrm>
          <a:prstGeom prst="roundRect">
            <a:avLst>
              <a:gd name="adj" fmla="val 30769"/>
            </a:avLst>
          </a:prstGeom>
          <a:solidFill>
            <a:srgbClr val="1D3650"/>
          </a:solidFill>
          <a:ln w="12700">
            <a:solidFill>
              <a:srgbClr val="31516D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751576" y="4261104"/>
            <a:ext cx="393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0E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</a:t>
            </a:r>
            <a:endParaRPr lang="en-US" sz="1270" dirty="0"/>
          </a:p>
        </p:txBody>
      </p:sp>
      <p:sp>
        <p:nvSpPr>
          <p:cNvPr id="34" name="Text 32"/>
          <p:cNvSpPr/>
          <p:nvPr/>
        </p:nvSpPr>
        <p:spPr>
          <a:xfrm>
            <a:off x="6153912" y="4261104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50" dirty="0" b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Vector Machine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77824" y="4800600"/>
            <a:ext cx="1444752" cy="475488"/>
          </a:xfrm>
          <a:prstGeom prst="roundRect">
            <a:avLst>
              <a:gd name="adj" fmla="val 30769"/>
            </a:avLst>
          </a:prstGeom>
          <a:solidFill>
            <a:srgbClr val="1D3650"/>
          </a:solidFill>
          <a:ln w="12700">
            <a:solidFill>
              <a:srgbClr val="31516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50976" y="4855464"/>
            <a:ext cx="393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0E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</a:t>
            </a:r>
            <a:endParaRPr lang="en-US" sz="1270" dirty="0"/>
          </a:p>
        </p:txBody>
      </p:sp>
      <p:sp>
        <p:nvSpPr>
          <p:cNvPr id="37" name="Text 35"/>
          <p:cNvSpPr/>
          <p:nvPr/>
        </p:nvSpPr>
        <p:spPr>
          <a:xfrm>
            <a:off x="1353312" y="4855464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50" dirty="0" b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Multi-Layer Perceptron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478024" y="4800600"/>
            <a:ext cx="1444752" cy="475488"/>
          </a:xfrm>
          <a:prstGeom prst="roundRect">
            <a:avLst>
              <a:gd name="adj" fmla="val 30769"/>
            </a:avLst>
          </a:prstGeom>
          <a:solidFill>
            <a:srgbClr val="1D3650"/>
          </a:solidFill>
          <a:ln w="12700">
            <a:solidFill>
              <a:srgbClr val="31516D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551176" y="4855464"/>
            <a:ext cx="393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0E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GNB</a:t>
            </a:r>
            <a:endParaRPr lang="en-US" sz="1270" dirty="0"/>
          </a:p>
        </p:txBody>
      </p:sp>
      <p:sp>
        <p:nvSpPr>
          <p:cNvPr id="40" name="Text 38"/>
          <p:cNvSpPr/>
          <p:nvPr/>
        </p:nvSpPr>
        <p:spPr>
          <a:xfrm>
            <a:off x="2953512" y="4855464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50" dirty="0" b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Gaussian Naive Bayes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078224" y="4800600"/>
            <a:ext cx="1444752" cy="475488"/>
          </a:xfrm>
          <a:prstGeom prst="roundRect">
            <a:avLst>
              <a:gd name="adj" fmla="val 30769"/>
            </a:avLst>
          </a:prstGeom>
          <a:solidFill>
            <a:srgbClr val="1D3650"/>
          </a:solidFill>
          <a:ln w="12700">
            <a:solidFill>
              <a:srgbClr val="31516D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151376" y="4855464"/>
            <a:ext cx="393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0E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</a:t>
            </a:r>
            <a:endParaRPr lang="en-US" sz="1270" dirty="0"/>
          </a:p>
        </p:txBody>
      </p:sp>
      <p:sp>
        <p:nvSpPr>
          <p:cNvPr id="43" name="Text 41"/>
          <p:cNvSpPr/>
          <p:nvPr/>
        </p:nvSpPr>
        <p:spPr>
          <a:xfrm>
            <a:off x="4553712" y="4855464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50" dirty="0" b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78424" y="4800600"/>
            <a:ext cx="1444752" cy="475488"/>
          </a:xfrm>
          <a:prstGeom prst="roundRect">
            <a:avLst>
              <a:gd name="adj" fmla="val 30769"/>
            </a:avLst>
          </a:prstGeom>
          <a:solidFill>
            <a:srgbClr val="1D3650"/>
          </a:solidFill>
          <a:ln w="12700">
            <a:solidFill>
              <a:srgbClr val="31516D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751576" y="4855464"/>
            <a:ext cx="393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0E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BS</a:t>
            </a:r>
            <a:endParaRPr lang="en-US" sz="1270" dirty="0"/>
          </a:p>
        </p:txBody>
      </p:sp>
      <p:sp>
        <p:nvSpPr>
          <p:cNvPr id="46" name="Text 44"/>
          <p:cNvSpPr/>
          <p:nvPr/>
        </p:nvSpPr>
        <p:spPr>
          <a:xfrm>
            <a:off x="6153912" y="4855464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50" dirty="0" b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Stack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763256" y="3465576"/>
            <a:ext cx="3822192" cy="2148840"/>
          </a:xfrm>
          <a:prstGeom prst="roundRect">
            <a:avLst>
              <a:gd name="adj" fmla="val 6809"/>
            </a:avLst>
          </a:prstGeom>
          <a:solidFill>
            <a:srgbClr val="152840"/>
          </a:solidFill>
          <a:ln w="12700">
            <a:solidFill>
              <a:srgbClr val="2E435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019288" y="3721608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100" b="1" spc="85" kern="0" dirty="0">
                <a:solidFill>
                  <a:srgbClr val="C8E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THAT MATTER</a:t>
            </a:r>
            <a:endParaRPr lang="en-US" sz="1210" dirty="0"/>
          </a:p>
        </p:txBody>
      </p:sp>
      <p:sp>
        <p:nvSpPr>
          <p:cNvPr id="49" name="Shape 47"/>
          <p:cNvSpPr/>
          <p:nvPr/>
        </p:nvSpPr>
        <p:spPr>
          <a:xfrm>
            <a:off x="8060436" y="4174236"/>
            <a:ext cx="100584" cy="100584"/>
          </a:xfrm>
          <a:prstGeom prst="ellipse">
            <a:avLst/>
          </a:prstGeom>
          <a:solidFill>
            <a:srgbClr val="C7F278"/>
          </a:solidFill>
          <a:ln w="12700">
            <a:solidFill>
              <a:srgbClr val="C7F2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293608" y="412394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240" dirty="0"/>
          </a:p>
        </p:txBody>
      </p:sp>
      <p:sp>
        <p:nvSpPr>
          <p:cNvPr id="51" name="Text 49"/>
          <p:cNvSpPr/>
          <p:nvPr/>
        </p:nvSpPr>
        <p:spPr>
          <a:xfrm>
            <a:off x="9482328" y="412394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900" dirty="0" b="0">
                <a:solidFill>
                  <a:srgbClr val="AAB9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attacks</a:t>
            </a:r>
            <a:endParaRPr lang="en-US" sz="1140" dirty="0"/>
          </a:p>
        </p:txBody>
      </p:sp>
      <p:sp>
        <p:nvSpPr>
          <p:cNvPr id="52" name="Shape 50"/>
          <p:cNvSpPr/>
          <p:nvPr/>
        </p:nvSpPr>
        <p:spPr>
          <a:xfrm>
            <a:off x="8060436" y="4631436"/>
            <a:ext cx="100584" cy="100584"/>
          </a:xfrm>
          <a:prstGeom prst="ellipse">
            <a:avLst/>
          </a:prstGeom>
          <a:solidFill>
            <a:srgbClr val="C7F278"/>
          </a:solidFill>
          <a:ln w="12700">
            <a:solidFill>
              <a:srgbClr val="C7F2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293608" y="458114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F1-score</a:t>
            </a:r>
            <a:endParaRPr lang="en-US" sz="1240" dirty="0"/>
          </a:p>
        </p:txBody>
      </p:sp>
      <p:sp>
        <p:nvSpPr>
          <p:cNvPr id="54" name="Text 52"/>
          <p:cNvSpPr/>
          <p:nvPr/>
        </p:nvSpPr>
        <p:spPr>
          <a:xfrm>
            <a:off x="9482328" y="458114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900" dirty="0" b="0">
                <a:solidFill>
                  <a:srgbClr val="AAB9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balance</a:t>
            </a:r>
            <a:endParaRPr lang="en-US" sz="1140" dirty="0"/>
          </a:p>
        </p:txBody>
      </p:sp>
      <p:sp>
        <p:nvSpPr>
          <p:cNvPr id="55" name="Shape 53"/>
          <p:cNvSpPr/>
          <p:nvPr/>
        </p:nvSpPr>
        <p:spPr>
          <a:xfrm>
            <a:off x="8060436" y="5088636"/>
            <a:ext cx="100584" cy="100584"/>
          </a:xfrm>
          <a:prstGeom prst="ellipse">
            <a:avLst/>
          </a:prstGeom>
          <a:solidFill>
            <a:srgbClr val="C7F278"/>
          </a:solidFill>
          <a:ln w="12700">
            <a:solidFill>
              <a:srgbClr val="C7F2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293608" y="503834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positives</a:t>
            </a:r>
            <a:endParaRPr lang="en-US" sz="1240" dirty="0"/>
          </a:p>
        </p:txBody>
      </p:sp>
      <p:sp>
        <p:nvSpPr>
          <p:cNvPr id="57" name="Text 55"/>
          <p:cNvSpPr/>
          <p:nvPr/>
        </p:nvSpPr>
        <p:spPr>
          <a:xfrm>
            <a:off x="9482328" y="503834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900" dirty="0" b="0">
                <a:solidFill>
                  <a:srgbClr val="AAB9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quality</a:t>
            </a:r>
            <a:endParaRPr lang="en-US" sz="1140" dirty="0"/>
          </a:p>
        </p:txBody>
      </p:sp>
      <p:sp>
        <p:nvSpPr>
          <p:cNvPr id="58" name="Shape 56"/>
          <p:cNvSpPr/>
          <p:nvPr/>
        </p:nvSpPr>
        <p:spPr>
          <a:xfrm>
            <a:off x="630936" y="5833872"/>
            <a:ext cx="10936224" cy="347472"/>
          </a:xfrm>
          <a:prstGeom prst="roundRect">
            <a:avLst>
              <a:gd name="adj" fmla="val 42105"/>
            </a:avLst>
          </a:prstGeom>
          <a:solidFill>
            <a:srgbClr val="1B2939"/>
          </a:solidFill>
          <a:ln w="12700">
            <a:solidFill>
              <a:srgbClr val="293E5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804672" y="5888736"/>
            <a:ext cx="10579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1000" b="0">
                <a:solidFill>
                  <a:srgbClr val="F0F4FA"/>
                </a:solidFill>
                <a:latin typeface="Aptos"/>
              </a:rPr>
              <a:t>SCOPE  •  The selected ML datasets cover DNS / DoH. Training, comparison, and deployment remain future project steps.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5EE3E8"/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spc="230" kern="0" dirty="0">
                <a:solidFill>
                  <a:srgbClr val="5EE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ROADMAP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594360" y="67665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20" b="1" dirty="0">
                <a:solidFill>
                  <a:srgbClr val="F6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Four-project evolution of the solution</a:t>
            </a:r>
            <a:endParaRPr lang="en-US" sz="2620" dirty="0"/>
          </a:p>
        </p:txBody>
      </p:sp>
      <p:sp>
        <p:nvSpPr>
          <p:cNvPr id="5" name="Text 3"/>
          <p:cNvSpPr/>
          <p:nvPr/>
        </p:nvSpPr>
        <p:spPr>
          <a:xfrm>
            <a:off x="603504" y="11978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staged approach: deterministic detection first, then more adaptive intelligence.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11430">
            <a:solidFill>
              <a:srgbClr val="2E43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92824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DETECTING DATA EXFILTRATION TUNNELS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698480" y="6583680"/>
            <a:ext cx="8778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1847088"/>
            <a:ext cx="2724912" cy="3026664"/>
          </a:xfrm>
          <a:prstGeom prst="roundRect">
            <a:avLst>
              <a:gd name="adj" fmla="val 5369"/>
            </a:avLst>
          </a:prstGeom>
          <a:solidFill>
            <a:srgbClr val="142540"/>
          </a:solidFill>
          <a:ln w="12700">
            <a:solidFill>
              <a:srgbClr val="2E43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1847088"/>
            <a:ext cx="2724912" cy="54864"/>
          </a:xfrm>
          <a:prstGeom prst="rect">
            <a:avLst/>
          </a:prstGeom>
          <a:solidFill>
            <a:srgbClr val="5EE3E8"/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148840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spc="150" kern="0" dirty="0">
                <a:solidFill>
                  <a:srgbClr val="5EE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01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804672" y="26426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8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Signatures</a:t>
            </a:r>
            <a:endParaRPr lang="en-US" sz="2080" dirty="0"/>
          </a:p>
        </p:txBody>
      </p:sp>
      <p:sp>
        <p:nvSpPr>
          <p:cNvPr id="13" name="Text 11"/>
          <p:cNvSpPr/>
          <p:nvPr/>
        </p:nvSpPr>
        <p:spPr>
          <a:xfrm>
            <a:off x="804672" y="3081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IDS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" y="3511296"/>
            <a:ext cx="2304288" cy="0"/>
          </a:xfrm>
          <a:prstGeom prst="line">
            <a:avLst/>
          </a:prstGeom>
          <a:noFill/>
          <a:ln w="17780">
            <a:solidFill>
              <a:srgbClr val="2E43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694176"/>
            <a:ext cx="2331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 Snort / Suricata signatures for unusual DNS and ICMP payloads, sizes and frequencies.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795528" y="4489704"/>
            <a:ext cx="1453896" cy="310896"/>
          </a:xfrm>
          <a:prstGeom prst="roundRect">
            <a:avLst>
              <a:gd name="adj" fmla="val 47059"/>
            </a:avLst>
          </a:prstGeom>
          <a:solidFill>
            <a:srgbClr val="243649"/>
          </a:solidFill>
          <a:ln w="12700">
            <a:solidFill>
              <a:srgbClr val="2436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517136"/>
            <a:ext cx="1252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5" kern="0" dirty="0">
                <a:solidFill>
                  <a:srgbClr val="5EE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7560" y="2880360"/>
            <a:ext cx="173736" cy="365760"/>
          </a:xfrm>
          <a:prstGeom prst="chevron">
            <a:avLst/>
          </a:prstGeom>
          <a:solidFill>
            <a:srgbClr val="5EE3E8"/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11296" y="1847088"/>
            <a:ext cx="2724912" cy="3026664"/>
          </a:xfrm>
          <a:prstGeom prst="roundRect">
            <a:avLst>
              <a:gd name="adj" fmla="val 5369"/>
            </a:avLst>
          </a:prstGeom>
          <a:solidFill>
            <a:srgbClr val="1B3747"/>
          </a:solidFill>
          <a:ln w="12700">
            <a:solidFill>
              <a:srgbClr val="C7F2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11296" y="1847088"/>
            <a:ext cx="2724912" cy="54864"/>
          </a:xfrm>
          <a:prstGeom prst="rect">
            <a:avLst/>
          </a:prstGeom>
          <a:solidFill>
            <a:srgbClr val="C7F278"/>
          </a:solidFill>
          <a:ln w="12700">
            <a:solidFill>
              <a:srgbClr val="C7F27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2148840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spc="150" kern="0" dirty="0">
                <a:solidFill>
                  <a:srgbClr val="C7F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02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3703320" y="26426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8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Supervised ML</a:t>
            </a:r>
            <a:endParaRPr lang="en-US" sz="2080" dirty="0"/>
          </a:p>
        </p:txBody>
      </p:sp>
      <p:sp>
        <p:nvSpPr>
          <p:cNvPr id="23" name="Text 21"/>
          <p:cNvSpPr/>
          <p:nvPr/>
        </p:nvSpPr>
        <p:spPr>
          <a:xfrm>
            <a:off x="3703320" y="3081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F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Labeled Classification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03320" y="3511296"/>
            <a:ext cx="2304288" cy="0"/>
          </a:xfrm>
          <a:prstGeom prst="line">
            <a:avLst/>
          </a:prstGeom>
          <a:noFill/>
          <a:ln w="17780">
            <a:solidFill>
              <a:srgbClr val="2E43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3694176"/>
            <a:ext cx="2331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and compare models using DNS / DoH datasets; validate and integrate a selected model.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3694176" y="4489704"/>
            <a:ext cx="1563624" cy="310896"/>
          </a:xfrm>
          <a:prstGeom prst="roundRect">
            <a:avLst>
              <a:gd name="adj" fmla="val 47059"/>
            </a:avLst>
          </a:prstGeom>
          <a:solidFill>
            <a:srgbClr val="243649"/>
          </a:solidFill>
          <a:ln w="12700">
            <a:solidFill>
              <a:srgbClr val="2436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4517136"/>
            <a:ext cx="1362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5" kern="0" dirty="0">
                <a:solidFill>
                  <a:srgbClr val="C7F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FOCUS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36208" y="2880360"/>
            <a:ext cx="173736" cy="365760"/>
          </a:xfrm>
          <a:prstGeom prst="chevron">
            <a:avLst/>
          </a:prstGeom>
          <a:solidFill>
            <a:srgbClr val="5EE3E8"/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9944" y="1847088"/>
            <a:ext cx="2724912" cy="3026664"/>
          </a:xfrm>
          <a:prstGeom prst="roundRect">
            <a:avLst>
              <a:gd name="adj" fmla="val 5369"/>
            </a:avLst>
          </a:prstGeom>
          <a:solidFill>
            <a:srgbClr val="142540"/>
          </a:solidFill>
          <a:ln w="12700">
            <a:solidFill>
              <a:srgbClr val="2E43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9944" y="1847088"/>
            <a:ext cx="2724912" cy="54864"/>
          </a:xfrm>
          <a:prstGeom prst="rect">
            <a:avLst/>
          </a:prstGeom>
          <a:solidFill>
            <a:srgbClr val="FEC278"/>
          </a:solidFill>
          <a:ln w="12700">
            <a:solidFill>
              <a:srgbClr val="FEC27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2148840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spc="150" kern="0" dirty="0">
                <a:solidFill>
                  <a:srgbClr val="FEC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03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6601968" y="26426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8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Unsupervised ML</a:t>
            </a:r>
            <a:endParaRPr lang="en-US" sz="2080" dirty="0"/>
          </a:p>
        </p:txBody>
      </p:sp>
      <p:sp>
        <p:nvSpPr>
          <p:cNvPr id="33" name="Text 31"/>
          <p:cNvSpPr/>
          <p:nvPr/>
        </p:nvSpPr>
        <p:spPr>
          <a:xfrm>
            <a:off x="6601968" y="3081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C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01968" y="3511296"/>
            <a:ext cx="2304288" cy="0"/>
          </a:xfrm>
          <a:prstGeom prst="line">
            <a:avLst/>
          </a:prstGeom>
          <a:noFill/>
          <a:ln w="17780">
            <a:solidFill>
              <a:srgbClr val="2E43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3694176"/>
            <a:ext cx="2331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a normal traffic baseline to detect previously unseen or modified tunnels.</a:t>
            </a:r>
            <a:endParaRPr lang="en-US" sz="1140" dirty="0"/>
          </a:p>
        </p:txBody>
      </p:sp>
      <p:sp>
        <p:nvSpPr>
          <p:cNvPr id="36" name="Shape 34"/>
          <p:cNvSpPr/>
          <p:nvPr/>
        </p:nvSpPr>
        <p:spPr>
          <a:xfrm>
            <a:off x="6592824" y="4489704"/>
            <a:ext cx="1453896" cy="310896"/>
          </a:xfrm>
          <a:prstGeom prst="roundRect">
            <a:avLst>
              <a:gd name="adj" fmla="val 47059"/>
            </a:avLst>
          </a:prstGeom>
          <a:solidFill>
            <a:srgbClr val="243649"/>
          </a:solidFill>
          <a:ln w="12700">
            <a:solidFill>
              <a:srgbClr val="2436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93408" y="4517136"/>
            <a:ext cx="1252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5" kern="0" dirty="0">
                <a:solidFill>
                  <a:srgbClr val="FEC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STAGE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134856" y="2880360"/>
            <a:ext cx="173736" cy="365760"/>
          </a:xfrm>
          <a:prstGeom prst="chevron">
            <a:avLst/>
          </a:prstGeom>
          <a:solidFill>
            <a:srgbClr val="5EE3E8"/>
          </a:solidFill>
          <a:ln w="12700">
            <a:solidFill>
              <a:srgbClr val="5EE3E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08592" y="1847088"/>
            <a:ext cx="2724912" cy="3026664"/>
          </a:xfrm>
          <a:prstGeom prst="roundRect">
            <a:avLst>
              <a:gd name="adj" fmla="val 5369"/>
            </a:avLst>
          </a:prstGeom>
          <a:solidFill>
            <a:srgbClr val="142540"/>
          </a:solidFill>
          <a:ln w="12700">
            <a:solidFill>
              <a:srgbClr val="2E43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08592" y="1847088"/>
            <a:ext cx="2724912" cy="54864"/>
          </a:xfrm>
          <a:prstGeom prst="rect">
            <a:avLst/>
          </a:prstGeom>
          <a:solidFill>
            <a:srgbClr val="C5A6FE"/>
          </a:solidFill>
          <a:ln w="12700">
            <a:solidFill>
              <a:srgbClr val="C5A6F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00616" y="2148840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spc="150" kern="0" dirty="0">
                <a:solidFill>
                  <a:srgbClr val="C5A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04</a:t>
            </a:r>
            <a:endParaRPr lang="en-US" sz="1060" dirty="0"/>
          </a:p>
        </p:txBody>
      </p:sp>
      <p:sp>
        <p:nvSpPr>
          <p:cNvPr id="42" name="Text 40"/>
          <p:cNvSpPr/>
          <p:nvPr/>
        </p:nvSpPr>
        <p:spPr>
          <a:xfrm>
            <a:off x="9500616" y="26426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8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</a:t>
            </a:r>
            <a:endParaRPr lang="en-US" sz="2080" dirty="0"/>
          </a:p>
        </p:txBody>
      </p:sp>
      <p:sp>
        <p:nvSpPr>
          <p:cNvPr id="43" name="Text 41"/>
          <p:cNvSpPr/>
          <p:nvPr/>
        </p:nvSpPr>
        <p:spPr>
          <a:xfrm>
            <a:off x="9500616" y="3081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A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 Assistance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500616" y="3511296"/>
            <a:ext cx="2304288" cy="0"/>
          </a:xfrm>
          <a:prstGeom prst="line">
            <a:avLst/>
          </a:prstGeom>
          <a:noFill/>
          <a:ln w="17780">
            <a:solidFill>
              <a:srgbClr val="2E43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00616" y="3694176"/>
            <a:ext cx="2331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A0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 alerts, summarize evidence and recommend responses with human oversight.</a:t>
            </a:r>
            <a:endParaRPr lang="en-US" sz="1140" dirty="0"/>
          </a:p>
        </p:txBody>
      </p:sp>
      <p:sp>
        <p:nvSpPr>
          <p:cNvPr id="46" name="Shape 44"/>
          <p:cNvSpPr/>
          <p:nvPr/>
        </p:nvSpPr>
        <p:spPr>
          <a:xfrm>
            <a:off x="9491472" y="4489704"/>
            <a:ext cx="1453896" cy="310896"/>
          </a:xfrm>
          <a:prstGeom prst="roundRect">
            <a:avLst>
              <a:gd name="adj" fmla="val 47059"/>
            </a:avLst>
          </a:prstGeom>
          <a:solidFill>
            <a:srgbClr val="243649"/>
          </a:solidFill>
          <a:ln w="12700">
            <a:solidFill>
              <a:srgbClr val="2436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92056" y="4517136"/>
            <a:ext cx="1252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5" kern="0" dirty="0">
                <a:solidFill>
                  <a:srgbClr val="C5A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STAGE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1792" y="5285232"/>
            <a:ext cx="10945368" cy="804672"/>
          </a:xfrm>
          <a:prstGeom prst="roundRect">
            <a:avLst>
              <a:gd name="adj" fmla="val 18182"/>
            </a:avLst>
          </a:prstGeom>
          <a:solidFill>
            <a:srgbClr val="152739"/>
          </a:solidFill>
          <a:ln w="12700">
            <a:solidFill>
              <a:srgbClr val="2E43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0392" y="549554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spc="110" kern="0" dirty="0">
                <a:solidFill>
                  <a:srgbClr val="5EE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PATH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2862072" y="546811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 mirroring</a:t>
            </a:r>
            <a:endParaRPr lang="en-US" sz="1220" dirty="0"/>
          </a:p>
        </p:txBody>
      </p:sp>
      <p:sp>
        <p:nvSpPr>
          <p:cNvPr id="51" name="Shape 49"/>
          <p:cNvSpPr/>
          <p:nvPr/>
        </p:nvSpPr>
        <p:spPr>
          <a:xfrm>
            <a:off x="4818888" y="5586984"/>
            <a:ext cx="274320" cy="0"/>
          </a:xfrm>
          <a:prstGeom prst="line">
            <a:avLst/>
          </a:prstGeom>
          <a:noFill/>
          <a:ln w="20320">
            <a:solidFill>
              <a:srgbClr val="5EE3E8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5157216" y="546811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engine</a:t>
            </a:r>
            <a:endParaRPr lang="en-US" sz="1220" dirty="0"/>
          </a:p>
        </p:txBody>
      </p:sp>
      <p:sp>
        <p:nvSpPr>
          <p:cNvPr id="53" name="Shape 51"/>
          <p:cNvSpPr/>
          <p:nvPr/>
        </p:nvSpPr>
        <p:spPr>
          <a:xfrm>
            <a:off x="7114032" y="5586984"/>
            <a:ext cx="283464" cy="0"/>
          </a:xfrm>
          <a:prstGeom prst="line">
            <a:avLst/>
          </a:prstGeom>
          <a:noFill/>
          <a:ln w="20320">
            <a:solidFill>
              <a:srgbClr val="5EE3E8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7461504" y="5468112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6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  +  SIEM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12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4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1031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>
                <a:solidFill>
                  <a:srgbClr val="54DDF0"/>
                </a:solidFill>
                <a:latin typeface="Aptos"/>
              </a:rPr>
              <a:t>06 /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7498079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>
                <a:solidFill>
                  <a:srgbClr val="F0F4FA"/>
                </a:solidFill>
                <a:latin typeface="Aptos"/>
              </a:rPr>
              <a:t>Supervised ML: workflow &amp; evaluation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16152"/>
            <a:ext cx="804672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100" b="0">
                <a:solidFill>
                  <a:srgbClr val="A5B4CD"/>
                </a:solidFill>
                <a:latin typeface="Aptos"/>
              </a:rPr>
              <a:t>Datasets selected and preprocessing scope defined; model training, comparison, deployment, and SIEM integration are next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1600200"/>
            <a:ext cx="182880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>
                <a:solidFill>
                  <a:srgbClr val="54DDF0"/>
                </a:solidFill>
                <a:latin typeface="Aptos"/>
              </a:rP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1901952"/>
            <a:ext cx="6720840" cy="512064"/>
          </a:xfrm>
          <a:prstGeom prst="roundRect">
            <a:avLst>
              <a:gd name="adj" fmla="val 8000"/>
            </a:avLst>
          </a:prstGeom>
          <a:solidFill>
            <a:srgbClr val="1F395A"/>
          </a:solidFill>
          <a:ln w="12700">
            <a:solidFill>
              <a:srgbClr val="54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002536"/>
            <a:ext cx="429768" cy="274320"/>
          </a:xfrm>
          <a:prstGeom prst="roundRect">
            <a:avLst>
              <a:gd name="adj" fmla="val 12000"/>
            </a:avLst>
          </a:prstGeom>
          <a:solidFill>
            <a:srgbClr val="54DDF0"/>
          </a:solidFill>
          <a:ln w="12700">
            <a:solidFill>
              <a:srgbClr val="54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034540"/>
            <a:ext cx="32004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ctr"/>
            <a:r>
              <a:rPr sz="1050" b="1">
                <a:solidFill>
                  <a:srgbClr val="051E3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975104"/>
            <a:ext cx="31089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50" b="1">
                <a:solidFill>
                  <a:srgbClr val="F0F4FA"/>
                </a:solidFill>
                <a:latin typeface="Aptos"/>
              </a:rPr>
              <a:t>Select 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020824"/>
            <a:ext cx="242316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030" b="0">
                <a:solidFill>
                  <a:srgbClr val="F0F4FA"/>
                </a:solidFill>
                <a:latin typeface="Aptos"/>
              </a:rPr>
              <a:t>CIC-Bell DNS-EXF-2021 + DoHBrw-2020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23792" y="2414016"/>
            <a:ext cx="25400" cy="73152"/>
          </a:xfrm>
          <a:prstGeom prst="rect">
            <a:avLst/>
          </a:prstGeom>
          <a:solidFill>
            <a:srgbClr val="54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3899916" y="2468880"/>
            <a:ext cx="73152" cy="45720"/>
          </a:xfrm>
          <a:prstGeom prst="triangle">
            <a:avLst/>
          </a:prstGeom>
          <a:solidFill>
            <a:srgbClr val="54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6072" y="2505456"/>
            <a:ext cx="6720840" cy="512064"/>
          </a:xfrm>
          <a:prstGeom prst="roundRect">
            <a:avLst>
              <a:gd name="adj" fmla="val 8000"/>
            </a:avLst>
          </a:prstGeom>
          <a:solidFill>
            <a:srgbClr val="1F395A"/>
          </a:solidFill>
          <a:ln w="12700">
            <a:solidFill>
              <a:srgbClr val="54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2606040"/>
            <a:ext cx="429768" cy="274320"/>
          </a:xfrm>
          <a:prstGeom prst="roundRect">
            <a:avLst>
              <a:gd name="adj" fmla="val 12000"/>
            </a:avLst>
          </a:prstGeom>
          <a:solidFill>
            <a:srgbClr val="54DDF0"/>
          </a:solidFill>
          <a:ln w="12700">
            <a:solidFill>
              <a:srgbClr val="54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38044"/>
            <a:ext cx="32004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ctr"/>
            <a:r>
              <a:rPr sz="1050" b="1">
                <a:solidFill>
                  <a:srgbClr val="051E33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2578608"/>
            <a:ext cx="31089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50" b="1">
                <a:solidFill>
                  <a:srgbClr val="F0F4FA"/>
                </a:solidFill>
                <a:latin typeface="Aptos"/>
              </a:rPr>
              <a:t>Clean &amp; extract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624328"/>
            <a:ext cx="242316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030" b="0">
                <a:solidFill>
                  <a:srgbClr val="F0F4FA"/>
                </a:solidFill>
                <a:latin typeface="Aptos"/>
              </a:rPr>
              <a:t>Cleaning, encoding, stateless + stateful attributes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23792" y="3017520"/>
            <a:ext cx="25400" cy="73152"/>
          </a:xfrm>
          <a:prstGeom prst="rect">
            <a:avLst/>
          </a:prstGeom>
          <a:solidFill>
            <a:srgbClr val="54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3899916" y="3072384"/>
            <a:ext cx="73152" cy="45720"/>
          </a:xfrm>
          <a:prstGeom prst="triangle">
            <a:avLst/>
          </a:prstGeom>
          <a:solidFill>
            <a:srgbClr val="54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6072" y="3108960"/>
            <a:ext cx="6720840" cy="512064"/>
          </a:xfrm>
          <a:prstGeom prst="roundRect">
            <a:avLst>
              <a:gd name="adj" fmla="val 8000"/>
            </a:avLst>
          </a:prstGeom>
          <a:solidFill>
            <a:srgbClr val="182D4D"/>
          </a:solidFill>
          <a:ln w="12700">
            <a:solidFill>
              <a:srgbClr val="39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209544"/>
            <a:ext cx="429768" cy="27432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" y="3241548"/>
            <a:ext cx="32004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ctr"/>
            <a:r>
              <a:rPr sz="1050" b="1">
                <a:solidFill>
                  <a:srgbClr val="101B2B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" y="3182112"/>
            <a:ext cx="31089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50" b="1">
                <a:solidFill>
                  <a:srgbClr val="F0F4FA"/>
                </a:solidFill>
                <a:latin typeface="Aptos"/>
              </a:rPr>
              <a:t>Train candidate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3227832"/>
            <a:ext cx="242316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030" b="0">
                <a:solidFill>
                  <a:srgbClr val="A5B4CD"/>
                </a:solidFill>
                <a:latin typeface="Aptos"/>
              </a:rPr>
              <a:t>RF, XGB, KNN, SVM, MLP, GNB, LR, BS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23792" y="3621024"/>
            <a:ext cx="25400" cy="73152"/>
          </a:xfrm>
          <a:prstGeom prst="rect">
            <a:avLst/>
          </a:prstGeom>
          <a:solidFill>
            <a:srgbClr val="39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10800000">
            <a:off x="3899916" y="3675888"/>
            <a:ext cx="73152" cy="45720"/>
          </a:xfrm>
          <a:prstGeom prst="triangle">
            <a:avLst/>
          </a:prstGeom>
          <a:solidFill>
            <a:srgbClr val="39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6072" y="3712464"/>
            <a:ext cx="6720840" cy="512064"/>
          </a:xfrm>
          <a:prstGeom prst="roundRect">
            <a:avLst>
              <a:gd name="adj" fmla="val 8000"/>
            </a:avLst>
          </a:prstGeom>
          <a:solidFill>
            <a:srgbClr val="182D4D"/>
          </a:solidFill>
          <a:ln w="12700">
            <a:solidFill>
              <a:srgbClr val="39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3813048"/>
            <a:ext cx="429768" cy="27432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3845052"/>
            <a:ext cx="32004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ctr"/>
            <a:r>
              <a:rPr sz="1050" b="1">
                <a:solidFill>
                  <a:srgbClr val="101B2B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3584" y="3785616"/>
            <a:ext cx="31089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50" b="1">
                <a:solidFill>
                  <a:srgbClr val="F0F4FA"/>
                </a:solidFill>
                <a:latin typeface="Aptos"/>
              </a:rPr>
              <a:t>Evaluate &amp; select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6592" y="3831336"/>
            <a:ext cx="242316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030" b="0">
                <a:solidFill>
                  <a:srgbClr val="A5B4CD"/>
                </a:solidFill>
                <a:latin typeface="Aptos"/>
              </a:rPr>
              <a:t>Accuracy, precision, recall, F1, ROC-AUC, FP / FN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23792" y="4224528"/>
            <a:ext cx="25400" cy="73152"/>
          </a:xfrm>
          <a:prstGeom prst="rect">
            <a:avLst/>
          </a:prstGeom>
          <a:solidFill>
            <a:srgbClr val="39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 rot="10800000">
            <a:off x="3899916" y="4279392"/>
            <a:ext cx="73152" cy="45720"/>
          </a:xfrm>
          <a:prstGeom prst="triangle">
            <a:avLst/>
          </a:prstGeom>
          <a:solidFill>
            <a:srgbClr val="39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76072" y="4315968"/>
            <a:ext cx="6720840" cy="512064"/>
          </a:xfrm>
          <a:prstGeom prst="roundRect">
            <a:avLst>
              <a:gd name="adj" fmla="val 8000"/>
            </a:avLst>
          </a:prstGeom>
          <a:solidFill>
            <a:srgbClr val="182D4D"/>
          </a:solidFill>
          <a:ln w="12700">
            <a:solidFill>
              <a:srgbClr val="39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85800" y="4416552"/>
            <a:ext cx="429768" cy="27432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" y="4448556"/>
            <a:ext cx="32004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ctr"/>
            <a:r>
              <a:rPr sz="1050" b="1">
                <a:solidFill>
                  <a:srgbClr val="101B2B"/>
                </a:solidFill>
                <a:latin typeface="Apto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3584" y="4389120"/>
            <a:ext cx="31089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50" b="1">
                <a:solidFill>
                  <a:srgbClr val="F0F4FA"/>
                </a:solidFill>
                <a:latin typeface="Aptos"/>
              </a:rPr>
              <a:t>Deploy selected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36592" y="4434840"/>
            <a:ext cx="242316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030" b="0">
                <a:solidFill>
                  <a:srgbClr val="A5B4CD"/>
                </a:solidFill>
                <a:latin typeface="Aptos"/>
              </a:rPr>
              <a:t>Inference service in a monitored network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23792" y="4828032"/>
            <a:ext cx="25400" cy="73152"/>
          </a:xfrm>
          <a:prstGeom prst="rect">
            <a:avLst/>
          </a:prstGeom>
          <a:solidFill>
            <a:srgbClr val="39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3899916" y="4882896"/>
            <a:ext cx="73152" cy="45720"/>
          </a:xfrm>
          <a:prstGeom prst="triangle">
            <a:avLst/>
          </a:prstGeom>
          <a:solidFill>
            <a:srgbClr val="39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76072" y="4919472"/>
            <a:ext cx="6720840" cy="512064"/>
          </a:xfrm>
          <a:prstGeom prst="roundRect">
            <a:avLst>
              <a:gd name="adj" fmla="val 8000"/>
            </a:avLst>
          </a:prstGeom>
          <a:solidFill>
            <a:srgbClr val="182D4D"/>
          </a:solidFill>
          <a:ln w="12700">
            <a:solidFill>
              <a:srgbClr val="39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85800" y="5020056"/>
            <a:ext cx="429768" cy="27432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" y="5052060"/>
            <a:ext cx="32004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ctr"/>
            <a:r>
              <a:rPr sz="1050" b="1">
                <a:solidFill>
                  <a:srgbClr val="101B2B"/>
                </a:solidFill>
                <a:latin typeface="Aptos"/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3584" y="4992624"/>
            <a:ext cx="31089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50" b="1">
                <a:solidFill>
                  <a:srgbClr val="F0F4FA"/>
                </a:solidFill>
                <a:latin typeface="Aptos"/>
              </a:rPr>
              <a:t>Test in operating environment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36592" y="5038344"/>
            <a:ext cx="242316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030" b="0">
                <a:solidFill>
                  <a:srgbClr val="A5B4CD"/>
                </a:solidFill>
                <a:latin typeface="Aptos"/>
              </a:rPr>
              <a:t>Controlled DNS / DoH traffic scenarios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23792" y="5431536"/>
            <a:ext cx="25400" cy="73152"/>
          </a:xfrm>
          <a:prstGeom prst="rect">
            <a:avLst/>
          </a:prstGeom>
          <a:solidFill>
            <a:srgbClr val="39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 rot="10800000">
            <a:off x="3899916" y="5486400"/>
            <a:ext cx="73152" cy="45720"/>
          </a:xfrm>
          <a:prstGeom prst="triangle">
            <a:avLst/>
          </a:prstGeom>
          <a:solidFill>
            <a:srgbClr val="39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76072" y="5522976"/>
            <a:ext cx="6720840" cy="512064"/>
          </a:xfrm>
          <a:prstGeom prst="roundRect">
            <a:avLst>
              <a:gd name="adj" fmla="val 8000"/>
            </a:avLst>
          </a:prstGeom>
          <a:solidFill>
            <a:srgbClr val="182D4D"/>
          </a:solidFill>
          <a:ln w="12700">
            <a:solidFill>
              <a:srgbClr val="39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85800" y="5623560"/>
            <a:ext cx="429768" cy="27432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" y="5655564"/>
            <a:ext cx="32004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ctr"/>
            <a:r>
              <a:rPr sz="1050" b="1">
                <a:solidFill>
                  <a:srgbClr val="101B2B"/>
                </a:solidFill>
                <a:latin typeface="Aptos"/>
              </a:rPr>
              <a:t>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43584" y="5596128"/>
            <a:ext cx="31089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50" b="1">
                <a:solidFill>
                  <a:srgbClr val="F0F4FA"/>
                </a:solidFill>
                <a:latin typeface="Aptos"/>
              </a:rPr>
              <a:t>Integrate with SIEM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36592" y="5641848"/>
            <a:ext cx="242316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030" b="0">
                <a:solidFill>
                  <a:srgbClr val="A5B4CD"/>
                </a:solidFill>
                <a:latin typeface="Aptos"/>
              </a:rPr>
              <a:t>Structured alerts to ELK / security dashboard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6108192"/>
            <a:ext cx="1691640" cy="310896"/>
          </a:xfrm>
          <a:prstGeom prst="roundRect">
            <a:avLst>
              <a:gd name="adj" fmla="val 25000"/>
            </a:avLst>
          </a:prstGeom>
          <a:solidFill>
            <a:srgbClr val="1A6270"/>
          </a:solidFill>
          <a:ln w="12700">
            <a:solidFill>
              <a:srgbClr val="1A6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8952" y="6172200"/>
            <a:ext cx="1463040" cy="14630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120" b="1">
                <a:solidFill>
                  <a:srgbClr val="54DDF0"/>
                </a:solidFill>
                <a:latin typeface="Aptos"/>
              </a:rPr>
              <a:t>COMPLETED: 01–02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487168" y="6108192"/>
            <a:ext cx="1664208" cy="310896"/>
          </a:xfrm>
          <a:prstGeom prst="roundRect">
            <a:avLst>
              <a:gd name="adj" fmla="val 25000"/>
            </a:avLst>
          </a:prstGeom>
          <a:solidFill>
            <a:srgbClr val="3A4356"/>
          </a:solidFill>
          <a:ln w="12700">
            <a:solidFill>
              <a:srgbClr val="3A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96896" y="6172200"/>
            <a:ext cx="1417320" cy="14630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120" b="1">
                <a:solidFill>
                  <a:srgbClr val="A5B4CD"/>
                </a:solidFill>
                <a:latin typeface="Aptos"/>
              </a:rPr>
              <a:t>PLANNED: 03–07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42631" y="1463040"/>
            <a:ext cx="4187952" cy="4663440"/>
          </a:xfrm>
          <a:prstGeom prst="roundRect">
            <a:avLst>
              <a:gd name="adj" fmla="val 12000"/>
            </a:avLst>
          </a:prstGeom>
          <a:solidFill>
            <a:srgbClr val="182D4D"/>
          </a:solidFill>
          <a:ln w="12700">
            <a:solidFill>
              <a:srgbClr val="39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71231" y="1682496"/>
            <a:ext cx="338328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>
                <a:solidFill>
                  <a:srgbClr val="CDEB78"/>
                </a:solidFill>
                <a:latin typeface="Aptos"/>
              </a:rPr>
              <a:t>SELECTED DATASETS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25511" y="2011680"/>
            <a:ext cx="3639312" cy="640080"/>
          </a:xfrm>
          <a:prstGeom prst="roundRect">
            <a:avLst>
              <a:gd name="adj" fmla="val 5000"/>
            </a:avLst>
          </a:prstGeom>
          <a:solidFill>
            <a:srgbClr val="1F395A"/>
          </a:solidFill>
          <a:ln w="12700">
            <a:solidFill>
              <a:srgbClr val="39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08391" y="2176272"/>
            <a:ext cx="3200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550" b="1">
                <a:solidFill>
                  <a:srgbClr val="F0F4FA"/>
                </a:solidFill>
                <a:latin typeface="Aptos"/>
              </a:rPr>
              <a:t>CIC-Bell-DNS-EXF-2021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08391" y="2395728"/>
            <a:ext cx="315468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60" b="0">
                <a:solidFill>
                  <a:srgbClr val="A5B4CD"/>
                </a:solidFill>
                <a:latin typeface="Aptos"/>
              </a:rPr>
              <a:t>DNS exfiltration • light/heavy attacks • stateless/stateful features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525511" y="2798064"/>
            <a:ext cx="3639312" cy="640080"/>
          </a:xfrm>
          <a:prstGeom prst="roundRect">
            <a:avLst>
              <a:gd name="adj" fmla="val 5000"/>
            </a:avLst>
          </a:prstGeom>
          <a:solidFill>
            <a:srgbClr val="1F395A"/>
          </a:solidFill>
          <a:ln w="12700">
            <a:solidFill>
              <a:srgbClr val="39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08391" y="2962656"/>
            <a:ext cx="3200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550" b="1">
                <a:solidFill>
                  <a:srgbClr val="F0F4FA"/>
                </a:solidFill>
                <a:latin typeface="Aptos"/>
              </a:rPr>
              <a:t>DoHBrw-2020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08391" y="3182112"/>
            <a:ext cx="315468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60" b="0">
                <a:solidFill>
                  <a:srgbClr val="A5B4CD"/>
                </a:solidFill>
                <a:latin typeface="Aptos"/>
              </a:rPr>
              <a:t>Encrypted DNS (DoH) traffic • separate evaluation dataset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1" y="3511296"/>
            <a:ext cx="3639312" cy="19050"/>
          </a:xfrm>
          <a:prstGeom prst="rect">
            <a:avLst/>
          </a:prstGeom>
          <a:solidFill>
            <a:srgbClr val="39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71231" y="3657600"/>
            <a:ext cx="338328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>
                <a:solidFill>
                  <a:srgbClr val="CDEB78"/>
                </a:solidFill>
                <a:latin typeface="Aptos"/>
              </a:rPr>
              <a:t>EVALUATION CRITERIA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25511" y="4005072"/>
            <a:ext cx="1719072" cy="475488"/>
          </a:xfrm>
          <a:prstGeom prst="roundRect">
            <a:avLst>
              <a:gd name="adj" fmla="val 5000"/>
            </a:avLst>
          </a:prstGeom>
          <a:solidFill>
            <a:srgbClr val="132845"/>
          </a:solidFill>
          <a:ln w="12700">
            <a:solidFill>
              <a:srgbClr val="39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53527" y="4096512"/>
            <a:ext cx="1417320" cy="1554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20" b="1">
                <a:solidFill>
                  <a:srgbClr val="F0F4FA"/>
                </a:solidFill>
                <a:latin typeface="Aptos"/>
              </a:rPr>
              <a:t>Accuracy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53527" y="4261104"/>
            <a:ext cx="1417320" cy="12801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60" b="0">
                <a:solidFill>
                  <a:srgbClr val="A5B4CD"/>
                </a:solidFill>
                <a:latin typeface="Aptos"/>
              </a:rPr>
              <a:t>Overall correctness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390887" y="4005072"/>
            <a:ext cx="1719072" cy="475488"/>
          </a:xfrm>
          <a:prstGeom prst="roundRect">
            <a:avLst>
              <a:gd name="adj" fmla="val 5000"/>
            </a:avLst>
          </a:prstGeom>
          <a:solidFill>
            <a:srgbClr val="132845"/>
          </a:solidFill>
          <a:ln w="12700">
            <a:solidFill>
              <a:srgbClr val="39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518903" y="4096512"/>
            <a:ext cx="1417320" cy="1554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20" b="1">
                <a:solidFill>
                  <a:srgbClr val="F0F4FA"/>
                </a:solidFill>
                <a:latin typeface="Aptos"/>
              </a:rPr>
              <a:t>Precision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18903" y="4261104"/>
            <a:ext cx="1417320" cy="12801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60" b="0">
                <a:solidFill>
                  <a:srgbClr val="A5B4CD"/>
                </a:solidFill>
                <a:latin typeface="Aptos"/>
              </a:rPr>
              <a:t>Alert reliability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25511" y="4590288"/>
            <a:ext cx="1719072" cy="475488"/>
          </a:xfrm>
          <a:prstGeom prst="roundRect">
            <a:avLst>
              <a:gd name="adj" fmla="val 5000"/>
            </a:avLst>
          </a:prstGeom>
          <a:solidFill>
            <a:srgbClr val="132845"/>
          </a:solidFill>
          <a:ln w="12700">
            <a:solidFill>
              <a:srgbClr val="39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53527" y="4681728"/>
            <a:ext cx="1417320" cy="1554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20" b="1">
                <a:solidFill>
                  <a:srgbClr val="F0F4FA"/>
                </a:solidFill>
                <a:latin typeface="Aptos"/>
              </a:rPr>
              <a:t>Recall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53527" y="4846320"/>
            <a:ext cx="1417320" cy="12801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60" b="0">
                <a:solidFill>
                  <a:srgbClr val="A5B4CD"/>
                </a:solidFill>
                <a:latin typeface="Aptos"/>
              </a:rPr>
              <a:t>Missed attacks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390887" y="4590288"/>
            <a:ext cx="1719072" cy="475488"/>
          </a:xfrm>
          <a:prstGeom prst="roundRect">
            <a:avLst>
              <a:gd name="adj" fmla="val 5000"/>
            </a:avLst>
          </a:prstGeom>
          <a:solidFill>
            <a:srgbClr val="132845"/>
          </a:solidFill>
          <a:ln w="12700">
            <a:solidFill>
              <a:srgbClr val="39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18903" y="4681728"/>
            <a:ext cx="1417320" cy="1554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20" b="1">
                <a:solidFill>
                  <a:srgbClr val="F0F4FA"/>
                </a:solidFill>
                <a:latin typeface="Aptos"/>
              </a:rPr>
              <a:t>F1-score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18903" y="4846320"/>
            <a:ext cx="1417320" cy="12801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60" b="0">
                <a:solidFill>
                  <a:srgbClr val="A5B4CD"/>
                </a:solidFill>
                <a:latin typeface="Aptos"/>
              </a:rPr>
              <a:t>Detection balance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525511" y="5175504"/>
            <a:ext cx="1719072" cy="475488"/>
          </a:xfrm>
          <a:prstGeom prst="roundRect">
            <a:avLst>
              <a:gd name="adj" fmla="val 5000"/>
            </a:avLst>
          </a:prstGeom>
          <a:solidFill>
            <a:srgbClr val="132845"/>
          </a:solidFill>
          <a:ln w="12700">
            <a:solidFill>
              <a:srgbClr val="39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53527" y="5266944"/>
            <a:ext cx="1417320" cy="1554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20" b="1">
                <a:solidFill>
                  <a:srgbClr val="F0F4FA"/>
                </a:solidFill>
                <a:latin typeface="Aptos"/>
              </a:rPr>
              <a:t>ROC-AUC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53527" y="5431536"/>
            <a:ext cx="1417320" cy="12801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60" b="0">
                <a:solidFill>
                  <a:srgbClr val="A5B4CD"/>
                </a:solidFill>
                <a:latin typeface="Aptos"/>
              </a:rPr>
              <a:t>Class separation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390887" y="5175504"/>
            <a:ext cx="1719072" cy="475488"/>
          </a:xfrm>
          <a:prstGeom prst="roundRect">
            <a:avLst>
              <a:gd name="adj" fmla="val 5000"/>
            </a:avLst>
          </a:prstGeom>
          <a:solidFill>
            <a:srgbClr val="132845"/>
          </a:solidFill>
          <a:ln w="12700">
            <a:solidFill>
              <a:srgbClr val="396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518903" y="5266944"/>
            <a:ext cx="1417320" cy="1554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20" b="1">
                <a:solidFill>
                  <a:srgbClr val="F0F4FA"/>
                </a:solidFill>
                <a:latin typeface="Aptos"/>
              </a:rPr>
              <a:t>FP / FN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18903" y="5431536"/>
            <a:ext cx="1417320" cy="12801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60" b="0">
                <a:solidFill>
                  <a:srgbClr val="A5B4CD"/>
                </a:solidFill>
                <a:latin typeface="Aptos"/>
              </a:rPr>
              <a:t>False alarms / miss rate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12064" y="6473952"/>
            <a:ext cx="10972800" cy="15240"/>
          </a:xfrm>
          <a:prstGeom prst="rect">
            <a:avLst/>
          </a:prstGeom>
          <a:solidFill>
            <a:srgbClr val="39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12064" y="6574536"/>
            <a:ext cx="4572000" cy="1371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50" b="0">
                <a:solidFill>
                  <a:srgbClr val="A5B4CD"/>
                </a:solidFill>
                <a:latin typeface="Aptos"/>
              </a:rPr>
              <a:t>DETECTING DATA EXFILTRATION TUNNELS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91672" y="6565392"/>
            <a:ext cx="640080" cy="1371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050" b="0">
                <a:solidFill>
                  <a:srgbClr val="A5B4CD"/>
                </a:solidFill>
                <a:latin typeface="Aptos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Academic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a Traditional IDS for Detecting Data Exfiltration Tunnels</dc:title>
  <dc:subject>IDS Tunneling Detection Semester Project</dc:subject>
  <dc:creator>OpenAI</dc:creator>
  <cp:lastModifiedBy>OpenAI</cp:lastModifiedBy>
  <cp:revision>1</cp:revision>
  <dcterms:created xsi:type="dcterms:W3CDTF">2026-10-25T14:39:15Z</dcterms:created>
  <dcterms:modified xsi:type="dcterms:W3CDTF">2026-10-25T14:39:15Z</dcterms:modified>
</cp:coreProperties>
</file>